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56aacb4a82946ef" /><Relationship Type="http://schemas.openxmlformats.org/officeDocument/2006/relationships/extended-properties" Target="/docProps/app.xml" Id="R44bb3d574f9247de" /><Relationship Type="http://schemas.openxmlformats.org/officeDocument/2006/relationships/officeDocument" Target="/ppt/presentation.xml" Id="R703edcee5bfa446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1e4c3f726bd43c5"/>
  </p:sldMasterIdLst>
  <p:notesMasterIdLst>
    <p:notesMasterId xmlns:r="http://schemas.openxmlformats.org/officeDocument/2006/relationships" r:id="Rf7370c894cd44045"/>
  </p:notesMasterIdLst>
  <p:sldIdLst>
    <p:sldId xmlns:r="http://schemas.openxmlformats.org/officeDocument/2006/relationships" id="256" r:id="Rd906eed8cdd24c34"/>
    <p:sldId xmlns:r="http://schemas.openxmlformats.org/officeDocument/2006/relationships" id="257" r:id="R736921231e0f4a86"/>
    <p:sldId xmlns:r="http://schemas.openxmlformats.org/officeDocument/2006/relationships" id="258" r:id="R178ed24615cf4e07"/>
    <p:sldId xmlns:r="http://schemas.openxmlformats.org/officeDocument/2006/relationships" id="259" r:id="R0410f043c80c4ab4"/>
    <p:sldId xmlns:r="http://schemas.openxmlformats.org/officeDocument/2006/relationships" id="260" r:id="R2cbd8c525ca54fb7"/>
    <p:sldId xmlns:r="http://schemas.openxmlformats.org/officeDocument/2006/relationships" id="261" r:id="R7e5557f8a4dd4e5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e4c3f726bd43c5" /><Relationship Type="http://schemas.openxmlformats.org/officeDocument/2006/relationships/theme" Target="/ppt/theme/theme1.xml" Id="R2333ebd800494cd5" /><Relationship Type="http://schemas.openxmlformats.org/officeDocument/2006/relationships/notesMaster" Target="/ppt/notesMasters/notesMaster1.xml" Id="Rf7370c894cd44045" /><Relationship Type="http://schemas.openxmlformats.org/officeDocument/2006/relationships/presProps" Target="/ppt/presProps.xml" Id="R3119220395d34ae6" /><Relationship Type="http://schemas.openxmlformats.org/officeDocument/2006/relationships/viewProps" Target="/ppt/viewProps.xml" Id="Rd4c9a51e3bd54381" /><Relationship Type="http://schemas.openxmlformats.org/officeDocument/2006/relationships/tableStyles" Target="/ppt/tableStyles.xml" Id="Rb06bdd8cbb7e4391" /><Relationship Type="http://schemas.openxmlformats.org/officeDocument/2006/relationships/slide" Target="/ppt/slides/slide1.xml" Id="Rd906eed8cdd24c34" /><Relationship Type="http://schemas.openxmlformats.org/officeDocument/2006/relationships/slide" Target="/ppt/slides/slide2.xml" Id="R736921231e0f4a86" /><Relationship Type="http://schemas.openxmlformats.org/officeDocument/2006/relationships/slide" Target="/ppt/slides/slide3.xml" Id="R178ed24615cf4e07" /><Relationship Type="http://schemas.openxmlformats.org/officeDocument/2006/relationships/slide" Target="/ppt/slides/slide4.xml" Id="R0410f043c80c4ab4" /><Relationship Type="http://schemas.openxmlformats.org/officeDocument/2006/relationships/slide" Target="/ppt/slides/slide5.xml" Id="R2cbd8c525ca54fb7" /><Relationship Type="http://schemas.openxmlformats.org/officeDocument/2006/relationships/slide" Target="/ppt/slides/slide6.xml" Id="R7e5557f8a4dd4e5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3d412505e9cf4a8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53e1e2642f04609" /><Relationship Type="http://schemas.openxmlformats.org/officeDocument/2006/relationships/notesMaster" Target="/ppt/notesMasters/notesMaster1.xml" Id="Rf633e9f5ba794fd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634ce4369fc4769" /><Relationship Type="http://schemas.openxmlformats.org/officeDocument/2006/relationships/notesMaster" Target="/ppt/notesMasters/notesMaster1.xml" Id="R37b3bf868a9e480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9e6ad1f87da44bb" /><Relationship Type="http://schemas.openxmlformats.org/officeDocument/2006/relationships/notesMaster" Target="/ppt/notesMasters/notesMaster1.xml" Id="R7593ca0abf64412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0669e38652745bb" /><Relationship Type="http://schemas.openxmlformats.org/officeDocument/2006/relationships/notesMaster" Target="/ppt/notesMasters/notesMaster1.xml" Id="R3b0e253b53b54fd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65a6232bbd2449c" /><Relationship Type="http://schemas.openxmlformats.org/officeDocument/2006/relationships/notesMaster" Target="/ppt/notesMasters/notesMaster1.xml" Id="Rda177e1dfeff467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f5ea6c8a68e43fe" /><Relationship Type="http://schemas.openxmlformats.org/officeDocument/2006/relationships/notesMaster" Target="/ppt/notesMasters/notesMaster1.xml" Id="R4a1396b3318b4d1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fb210fe6a64724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2819a34462494972" /><Relationship Type="http://schemas.openxmlformats.org/officeDocument/2006/relationships/slideLayout" Target="/ppt/slideLayouts/slideLayout2.xml" Id="Rb7f9cfad3a05454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7f9cfad3a05454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adf8caa449547b9" /><Relationship Type="http://schemas.openxmlformats.org/officeDocument/2006/relationships/notesSlide" Target="/ppt/notesSlides/notesSlide1.xml" Id="R998a2810e131490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a90e06dd9e8417d" /><Relationship Type="http://schemas.openxmlformats.org/officeDocument/2006/relationships/notesSlide" Target="/ppt/notesSlides/notesSlide2.xml" Id="R6aeab4237a1746d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737e7d3d8d54759" /><Relationship Type="http://schemas.openxmlformats.org/officeDocument/2006/relationships/notesSlide" Target="/ppt/notesSlides/notesSlide3.xml" Id="R5e80a6fdc35e47b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03859a294d3498f" /><Relationship Type="http://schemas.openxmlformats.org/officeDocument/2006/relationships/notesSlide" Target="/ppt/notesSlides/notesSlide4.xml" Id="Rdd9c6c59b2044ee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d783e3a064e449d" /><Relationship Type="http://schemas.openxmlformats.org/officeDocument/2006/relationships/notesSlide" Target="/ppt/notesSlides/notesSlide5.xml" Id="R0448d5e9740f474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efb279fa6bf4b41" /><Relationship Type="http://schemas.openxmlformats.org/officeDocument/2006/relationships/notesSlide" Target="/ppt/notesSlides/notesSlide6.xml" Id="R60204456c0fe496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88DC278-FDFF-4233-A26A-575E4E327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1A219D-6E58-44D4-8EA2-3A1384CB3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9E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3C72B3-9259-42AF-8010-ACE0194BE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9E6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F9E64"/>
                </a:solidFill>
                <a:latin typeface="Aptos"/>
                <a:ea typeface="Aptos"/>
                <a:cs typeface="Aptos"/>
              </a:rPr>
              <a:t>Project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D2CA05-895C-4ED3-B9B9-7F4634AAC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4290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574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747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3FA07A-6613-4FF3-980A-731C1F235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5143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rPr>
              <a:t>Toy DQN 기반</a:t>
            </a:r>
          </a:p>
          <a:p xmlns:a="http://schemas.openxmlformats.org/drawingml/2006/main">
            <a:pPr algn="l">
              <a:defRPr sz="285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rPr>
              <a:t>따릉이 재배치 MDP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21F2CF-0C90-406B-A290-74CDE20D9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5334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5747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5747A"/>
                </a:solidFill>
                <a:latin typeface="Aptos"/>
                <a:ea typeface="Aptos"/>
                <a:cs typeface="Aptos"/>
              </a:rPr>
              <a:t>자전거 부족으로 생기는 헛걸음을 줄이기 위해, 재배치 트럭의 다음 방문 대여소를 학습하는 강화학습 toy 프로젝트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40CB1D-D647-4FC3-8013-3B8522A82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09850"/>
            <a:ext cx="1809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FF3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DC80CC-FBE3-43A8-BE97-65F93C2DA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1543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F9E6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F9E64"/>
                </a:solidFill>
                <a:latin typeface="Aptos"/>
                <a:ea typeface="Aptos"/>
                <a:cs typeface="Aptos"/>
              </a:rPr>
              <a:t>State · Action · Reward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8EAC16-9747-4AAE-B231-77B16E96A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609850"/>
            <a:ext cx="157162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4F0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DDB837-071D-4431-A4A2-2C9A5C78D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686050"/>
            <a:ext cx="13049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F80E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F80ED"/>
                </a:solidFill>
                <a:latin typeface="Aptos"/>
                <a:ea typeface="Aptos"/>
                <a:cs typeface="Aptos"/>
              </a:rPr>
              <a:t>Baseline vs DQN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0B387F-DF8E-4DED-B447-F1434913E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609850"/>
            <a:ext cx="1428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0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E61EAE-1CB7-46F0-BA48-7FDB1D597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686050"/>
            <a:ext cx="1162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2994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2994A"/>
                </a:solidFill>
                <a:latin typeface="Aptos"/>
                <a:ea typeface="Aptos"/>
                <a:cs typeface="Aptos"/>
              </a:rPr>
              <a:t>Episode Replay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38C789-DC32-41A1-B573-F06E634AA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066800"/>
            <a:ext cx="20002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CE2E2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85C97D-7E4A-4BBD-BAB6-45BC77AFF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066800"/>
            <a:ext cx="95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52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CD6C7C-A559-4C41-A833-EBAD71CE8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23825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마포구청역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870A2E-53F2-4E6B-93B8-6D3EC48AE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219200"/>
            <a:ext cx="5524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052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A21911-4E51-4AD3-AB6B-0D570D6EA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295400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위험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DA87B2-2A60-4ECA-9439-FB4FE2416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619250"/>
            <a:ext cx="38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F80ED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F80ED"/>
                </a:solidFill>
                <a:latin typeface="Aptos"/>
                <a:ea typeface="Aptos"/>
                <a:cs typeface="Aptos"/>
              </a:rPr>
              <a:t>🚲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FB0428-AC1D-49EE-BB3C-6200FE026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524000"/>
            <a:ext cx="876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28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00대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EAA911-DB3F-4D65-AD6E-99E1AB95E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1145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4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5747A"/>
                </a:solidFill>
                <a:latin typeface="Aptos"/>
                <a:ea typeface="Aptos"/>
                <a:cs typeface="Aptos"/>
              </a:rPr>
              <a:t>수요와 반납으로 재고 변동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C5F205-2CE9-4473-8218-C9AF08EF7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524250"/>
            <a:ext cx="20002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DFF3E7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B881A1-1765-43FF-B31C-11493D743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524250"/>
            <a:ext cx="95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9E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1D8FCF-BE7A-42C1-8F52-E55542CC1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69570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여의도역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7B0A4E-A7A9-40C9-80DF-D873BA448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676650"/>
            <a:ext cx="5524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F9E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A4F175-CFA8-4461-8762-8BE784817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752850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안정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FB0051-DC71-4609-A5E5-2720FE956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076700"/>
            <a:ext cx="38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F80ED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F80ED"/>
                </a:solidFill>
                <a:latin typeface="Aptos"/>
                <a:ea typeface="Aptos"/>
                <a:cs typeface="Aptos"/>
              </a:rPr>
              <a:t>🚲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F442DD-9C4E-401E-B457-DB759F75E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981450"/>
            <a:ext cx="876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28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06대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FD7D816-C4F8-4D65-8151-CBB69AA32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57200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4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5747A"/>
                </a:solidFill>
                <a:latin typeface="Aptos"/>
                <a:ea typeface="Aptos"/>
                <a:cs typeface="Aptos"/>
              </a:rPr>
              <a:t>수요와 반납으로 재고 변동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EC36AC-C2CA-49C8-BE41-7F698B4FA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524250"/>
            <a:ext cx="20002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0D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99C0A5C-30C8-4C7D-80C9-3F3A18EB5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524250"/>
            <a:ext cx="95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99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7AF0F51-7160-42BD-B68F-0586FC2A6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69570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서울숲입구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55EC14A-047C-4FA0-96BB-A7AF5D62B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3676650"/>
            <a:ext cx="5524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299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A92355F-2CAB-4BC4-8B26-229282C39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752850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주의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B4DB80B-14DA-4154-B22C-1347A9F1A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4076700"/>
            <a:ext cx="38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F80ED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F80ED"/>
                </a:solidFill>
                <a:latin typeface="Aptos"/>
                <a:ea typeface="Aptos"/>
                <a:cs typeface="Aptos"/>
              </a:rPr>
              <a:t>🚲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0CEB98C-7CD8-4C6F-B6EE-DA1E5DED5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981450"/>
            <a:ext cx="876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28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02대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B4A0B9B-0993-44D9-AA56-286EE67B5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457200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4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5747A"/>
                </a:solidFill>
                <a:latin typeface="Aptos"/>
                <a:ea typeface="Aptos"/>
                <a:cs typeface="Aptos"/>
              </a:rPr>
              <a:t>수요와 반납으로 재고 변동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CD6E19F-B4F1-4575-81A8-B56CF2626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628900"/>
            <a:ext cx="2476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B5B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FAE1B21-9C00-48CA-8F9B-6B824C958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28900"/>
            <a:ext cx="571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B5B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5643C9C-8624-4989-98C5-9A152C4DF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838450"/>
            <a:ext cx="17907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6E4DE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E96C8B3-8C52-4CD5-9C1A-263BE868E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009900"/>
            <a:ext cx="1181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80E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F80ED"/>
                </a:solidFill>
                <a:latin typeface="Aptos"/>
                <a:ea typeface="Aptos"/>
                <a:cs typeface="Aptos"/>
              </a:rPr>
              <a:t>트럭 적재 0/5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1E70ABF-22DD-437F-8839-F07C1CF2E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4000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6E4DE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D1F78A9-4147-45A1-8FE2-9DA3D2608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오늘 리뷰에서 확인할 것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EFF113D-FA02-4FA9-BFAE-8785ED95D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05300"/>
            <a:ext cx="33813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4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47A"/>
                </a:solidFill>
                <a:latin typeface="Aptos"/>
                <a:ea typeface="Aptos"/>
                <a:cs typeface="Aptos"/>
              </a:rPr>
              <a:t>1. MDP 설계가 목표와 맞는가</a:t>
            </a:r>
          </a:p>
          <a:p xmlns:a="http://schemas.openxmlformats.org/drawingml/2006/main">
            <a:pPr algn="l">
              <a:defRPr sz="1275" b="0">
                <a:solidFill>
                  <a:srgbClr val="6574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47A"/>
                </a:solidFill>
                <a:latin typeface="Aptos"/>
                <a:ea typeface="Aptos"/>
                <a:cs typeface="Aptos"/>
              </a:rPr>
              <a:t>2. Reward가 헛걸음 감소를 잘 반영하는가</a:t>
            </a:r>
          </a:p>
          <a:p xmlns:a="http://schemas.openxmlformats.org/drawingml/2006/main">
            <a:pPr algn="l">
              <a:defRPr sz="1275" b="0">
                <a:solidFill>
                  <a:srgbClr val="6574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47A"/>
                </a:solidFill>
                <a:latin typeface="Aptos"/>
                <a:ea typeface="Aptos"/>
                <a:cs typeface="Aptos"/>
              </a:rPr>
              <a:t>3. DQN smoke 결과를 어디까지 주장할 수 있는가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E667867-5A09-421D-B421-93136B74B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5780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F9E64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2F9E64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1D2DFC3-4A01-4DD5-8CD4-A1741FE45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674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574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5747A"/>
                </a:solidFill>
                <a:latin typeface="Aptos"/>
                <a:ea typeface="Aptos"/>
                <a:cs typeface="Aptos"/>
              </a:rPr>
              <a:t>대여소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BA5065E-03C2-45D9-8A49-310F1100C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25780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F80ED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2F80ED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DBC072F-125E-4537-8FA3-77AE727DF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8674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574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5747A"/>
                </a:solidFill>
                <a:latin typeface="Aptos"/>
                <a:ea typeface="Aptos"/>
                <a:cs typeface="Aptos"/>
              </a:rPr>
              <a:t>하루 step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9788998-DF57-4487-BD9E-350E4186D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25780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2994A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2994A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04046FA-D322-4A9B-9CD0-542488714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8674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574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5747A"/>
                </a:solidFill>
                <a:latin typeface="Aptos"/>
                <a:ea typeface="Aptos"/>
                <a:cs typeface="Aptos"/>
              </a:rPr>
              <a:t>트럭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67D5C28-EBA9-433F-B7D2-7556CB7DE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857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4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5747A"/>
                </a:solidFill>
                <a:latin typeface="Aptos"/>
                <a:ea typeface="Aptos"/>
                <a:cs typeface="Aptos"/>
              </a:rPr>
              <a:t>현재 단계: V1 Toy DQN smoke prototype · PyTorch DQN은 다음 확장</a:t>
            </a:r>
          </a:p>
        </p:txBody>
      </p:sp>
    </p:spTree>
    <p:extLst>
      <p:ext uri="{BB962C8B-B14F-4D97-AF65-F5344CB8AC3E}">
        <p14:creationId xmlns:p14="http://schemas.microsoft.com/office/powerpoint/2010/main" val="115154857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575E2ED-CEE4-4625-8C8B-0A6661513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886E2C-E053-4019-A047-1D26EEE7E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9E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A8979D-A8AA-4F94-BAED-5D5BB68EC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9E6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F9E64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D3E61B-10D0-493E-B947-4640AC3E3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4290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574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747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B1019E-78E6-4288-92F1-21CD59D8E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7810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rPr>
              <a:t>목표는 헛걸음을 줄이는</a:t>
            </a:r>
          </a:p>
          <a:p xmlns:a="http://schemas.openxmlformats.org/drawingml/2006/main">
            <a:pPr algn="l">
              <a:defRPr sz="285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rPr>
              <a:t>순차적 의사결정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86527A-FDC3-4A69-BD24-CCDB9E037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7715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5747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5747A"/>
                </a:solidFill>
                <a:latin typeface="Aptos"/>
                <a:ea typeface="Aptos"/>
                <a:cs typeface="Aptos"/>
              </a:rPr>
              <a:t>따릉이 대여소 재고는 시간대와 지역에 따라 흔들리고, 트럭 이동은 현재와 미래 수요 충족률을 함께 바꾼다.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66B32F-2098-4887-ACC2-C8BD3B204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31432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CE2E2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896912-CA3A-430D-A22A-AD6B0E7D0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908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0525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05252"/>
                </a:solidFill>
                <a:latin typeface="Aptos"/>
                <a:ea typeface="Aptos"/>
                <a:cs typeface="Aptos"/>
              </a:rPr>
              <a:t>문제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08630C-BECB-4689-BAE8-DCB6BE5B7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86150"/>
            <a:ext cx="2476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빈 대여소 → 사용자가 자전거를 빌리지 못함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과도한 이동 → 운영비 증가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단순 재고 기준 → 다음 수요를 놓칠 수 있음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279B85-106D-4405-9578-BF031272B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724150"/>
            <a:ext cx="31432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DFF3E7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06E54B-9402-4840-9025-8DEADA2ED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908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9E6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F9E64"/>
                </a:solidFill>
                <a:latin typeface="Aptos"/>
                <a:ea typeface="Aptos"/>
                <a:cs typeface="Aptos"/>
              </a:rPr>
              <a:t>학습 목표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31C8BA-584B-491C-B10A-A92B74D1F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86150"/>
            <a:ext cx="24003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현재 state를 보고 다음 대여소를 선택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하루 동안 unmet demand를 최소화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이동비용은 과도하게 늘리지 않기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96C44E-963C-40D2-B2EC-8B3AFD832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24150"/>
            <a:ext cx="31432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E4F0FF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DD4F01-4E83-4ABF-BE6F-9B1BB0831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9908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80E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F80ED"/>
                </a:solidFill>
                <a:latin typeface="Aptos"/>
                <a:ea typeface="Aptos"/>
                <a:cs typeface="Aptos"/>
              </a:rPr>
              <a:t>평가 기준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D0EBC7-F824-4714-89D1-A6889B77B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486150"/>
            <a:ext cx="2400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Avg Unmet Demand</a:t>
            </a:r>
          </a:p>
          <a:p xmlns:a="http://schemas.openxmlformats.org/drawingml/2006/main">
            <a:pPr algn="l">
              <a:defRPr sz="13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Service Rate</a:t>
            </a:r>
          </a:p>
          <a:p xmlns:a="http://schemas.openxmlformats.org/drawingml/2006/main">
            <a:pPr algn="l">
              <a:defRPr sz="13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Avg Reward</a:t>
            </a:r>
          </a:p>
          <a:p xmlns:a="http://schemas.openxmlformats.org/drawingml/2006/main">
            <a:pPr algn="l">
              <a:defRPr sz="13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Avg Movement Cost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Baseline과 같은 seed 조건에서 비교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DE0979-7E4A-4DE1-92F9-4E7DEE26C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76875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9E6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F9E64"/>
                </a:solidFill>
                <a:latin typeface="Aptos"/>
                <a:ea typeface="Aptos"/>
                <a:cs typeface="Aptos"/>
              </a:rPr>
              <a:t>핵심 질문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698E8A-A992-4276-B6F7-CD66FFCC4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457825"/>
            <a:ext cx="809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작은 toy MDP에서 DQN이 Random / Low-stock heuristic보다 더 나은 방문 순서 정책을 학습할 수 있는가?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5B57F0-3CEB-40B3-83BD-245D2F3F6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857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4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5747A"/>
                </a:solidFill>
                <a:latin typeface="Aptos"/>
                <a:ea typeface="Aptos"/>
                <a:cs typeface="Aptos"/>
              </a:rPr>
              <a:t>현재 단계: V1 Toy DQN smoke prototype · PyTorch DQN은 다음 확장</a:t>
            </a:r>
          </a:p>
        </p:txBody>
      </p:sp>
    </p:spTree>
    <p:extLst>
      <p:ext uri="{BB962C8B-B14F-4D97-AF65-F5344CB8AC3E}">
        <p14:creationId xmlns:p14="http://schemas.microsoft.com/office/powerpoint/2010/main" val="195828493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05FC65-B4CD-4F51-9CFD-963313FAE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6A0259-1A4C-4605-B709-591DD491D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9E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57D72A-9A73-4159-BF1E-C63997121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9E6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F9E64"/>
                </a:solidFill>
                <a:latin typeface="Aptos"/>
                <a:ea typeface="Aptos"/>
                <a:cs typeface="Aptos"/>
              </a:rPr>
              <a:t>MDP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E19DD8-8586-4B18-AF15-08AF95603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4290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574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747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783D0E-5631-492B-80C9-53EDD715D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7810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rPr>
              <a:t>현재 V1 MDP 정의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E1FECD-B545-4E6D-9C01-75D29E161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7239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5747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5747A"/>
                </a:solidFill>
                <a:latin typeface="Aptos"/>
                <a:ea typeface="Aptos"/>
                <a:cs typeface="Aptos"/>
              </a:rPr>
              <a:t>작게 시작하되 강화학습 구성요소는 명확하게 고정한다.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811E66-FD45-4F74-BEAE-8EE05F399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5747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5747A"/>
                </a:solidFill>
                <a:latin typeface="Aptos"/>
                <a:ea typeface="Aptos"/>
                <a:cs typeface="Aptos"/>
              </a:rPr>
              <a:t>구성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50619D-2991-4731-91CB-ADF0FF002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1907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5747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5747A"/>
                </a:solidFill>
                <a:latin typeface="Aptos"/>
                <a:ea typeface="Aptos"/>
                <a:cs typeface="Aptos"/>
              </a:rPr>
              <a:t>현재 정의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3B7F50-A04D-4533-AE20-1D86F9EF9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1907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5747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5747A"/>
                </a:solidFill>
                <a:latin typeface="Aptos"/>
                <a:ea typeface="Aptos"/>
                <a:cs typeface="Aptos"/>
              </a:rPr>
              <a:t>리뷰 포인트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7A3BD6-7E5E-4B35-A65D-995BF78CE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33650"/>
            <a:ext cx="1085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6E4D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9F4D16-3063-47EC-B0EE-6CF6006BE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3365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9E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A6529B-A7FD-4EE8-97F2-E0AEF7353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95575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9E6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F9E64"/>
                </a:solidFill>
                <a:latin typeface="Aptos"/>
                <a:ea typeface="Aptos"/>
                <a:cs typeface="Aptos"/>
              </a:rPr>
              <a:t>State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1BCFDB-2589-4ED6-B073-E1C568443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676525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재고 3개, 트럭 위치, 트럭 적재량, 시간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6A5B58-36B9-4F50-B7B3-479B56C49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676525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4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5747A"/>
                </a:solidFill>
                <a:latin typeface="Aptos"/>
                <a:ea typeface="Aptos"/>
                <a:cs typeface="Aptos"/>
              </a:rPr>
              <a:t>학습에 필요한 정보가 충분한가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2EE172-4422-4F74-987B-FA7421A19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19450"/>
            <a:ext cx="1085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6E4D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94E182-840A-4BE3-A8E4-F80F4792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1945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D1478A-C93B-40A6-A540-E870258CE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81375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80E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F80ED"/>
                </a:solidFill>
                <a:latin typeface="Aptos"/>
                <a:ea typeface="Aptos"/>
                <a:cs typeface="Aptos"/>
              </a:rPr>
              <a:t>Action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E7457A-1496-4D51-A0C9-4F1FA46B0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362325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다음 방문 대여소 선택 {0, 1, 2}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B9E1F3-E174-4333-87CE-CD021DCC0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62325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4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5747A"/>
                </a:solidFill>
                <a:latin typeface="Aptos"/>
                <a:ea typeface="Aptos"/>
                <a:cs typeface="Aptos"/>
              </a:rPr>
              <a:t>첫 toy 문제로 적절한 단순화인가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80CC49-0FDB-46D1-8CBB-FDA5EC698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05250"/>
            <a:ext cx="1085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6E4D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6D2B82-55E6-469A-BB36-33A921958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0525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52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25C3B7-1F22-40DC-B665-32E62F56C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67175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0525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05252"/>
                </a:solidFill>
                <a:latin typeface="Aptos"/>
                <a:ea typeface="Aptos"/>
                <a:cs typeface="Aptos"/>
              </a:rPr>
              <a:t>Reward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1EAB7F-34B8-45FA-A506-5EB883E0F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048125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-10 × unmet_demand - movement_cost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F187BA-2251-412A-8EF7-5A0EA7453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048125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4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5747A"/>
                </a:solidFill>
                <a:latin typeface="Aptos"/>
                <a:ea typeface="Aptos"/>
                <a:cs typeface="Aptos"/>
              </a:rPr>
              <a:t>헛걸음 감소 목표와 일치하는가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7F274D-8AAA-4BC4-9E67-13FF4E9EA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91050"/>
            <a:ext cx="1085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6E4D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9A041C-20F1-4267-9A75-D73204DAD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9105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99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A09096-25DB-4B25-BCBD-A6D1597CA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52975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99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2994A"/>
                </a:solidFill>
                <a:latin typeface="Aptos"/>
                <a:ea typeface="Aptos"/>
                <a:cs typeface="Aptos"/>
              </a:rPr>
              <a:t>Env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37C5AB-20D4-4F6B-BD78-ED9D787AD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733925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대여소 3개, 트럭 1대, 24 step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8B159C4-C418-40F4-8342-CBF5169DE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733925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4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5747A"/>
                </a:solidFill>
                <a:latin typeface="Aptos"/>
                <a:ea typeface="Aptos"/>
                <a:cs typeface="Aptos"/>
              </a:rPr>
              <a:t>과제 범위에서 설명 가능한가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23514E2-5623-4DBA-A938-5DB83D476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76850"/>
            <a:ext cx="1085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6E4D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52932E9-6150-4D39-AB5B-916709088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7685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2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69D52C7-DD73-48EC-B134-0D1285568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38775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3323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33238"/>
                </a:solidFill>
                <a:latin typeface="Aptos"/>
                <a:ea typeface="Aptos"/>
                <a:cs typeface="Aptos"/>
              </a:rPr>
              <a:t>Policy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78AB237-0E53-41D4-88FA-607423EBA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419725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Random, Low-stock, DQN greedy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A30E055-2503-4F18-820B-892CB66BB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419725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4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5747A"/>
                </a:solidFill>
                <a:latin typeface="Aptos"/>
                <a:ea typeface="Aptos"/>
                <a:cs typeface="Aptos"/>
              </a:rPr>
              <a:t>baseline 비교가 공정한가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FCE0A7B-15F9-484F-A070-13F128149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857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4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5747A"/>
                </a:solidFill>
                <a:latin typeface="Aptos"/>
                <a:ea typeface="Aptos"/>
                <a:cs typeface="Aptos"/>
              </a:rPr>
              <a:t>현재 단계: V1 Toy DQN smoke prototype · PyTorch DQN은 다음 확장</a:t>
            </a:r>
          </a:p>
        </p:txBody>
      </p:sp>
    </p:spTree>
    <p:extLst>
      <p:ext uri="{BB962C8B-B14F-4D97-AF65-F5344CB8AC3E}">
        <p14:creationId xmlns:p14="http://schemas.microsoft.com/office/powerpoint/2010/main" val="160184035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7076DB1-D2D9-4622-A50E-AFBAC645F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D98DE1-46F8-4560-A448-53F5E0D46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9E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4C2D3B-AFC0-4D3F-BAC2-A3E219009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9E6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F9E64"/>
                </a:solidFill>
                <a:latin typeface="Aptos"/>
                <a:ea typeface="Aptos"/>
                <a:cs typeface="Aptos"/>
              </a:rPr>
              <a:t>Implementation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4EBBCA-2F3F-445F-8372-0F031086F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4290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574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747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752CAF-47BB-456A-9756-DBEBA252C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7810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rPr>
              <a:t>프로젝트 구조와 실행 흐름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A825A3-1448-4146-A555-7409862D2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7239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5747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5747A"/>
                </a:solidFill>
                <a:latin typeface="Aptos"/>
                <a:ea typeface="Aptos"/>
                <a:cs typeface="Aptos"/>
              </a:rPr>
              <a:t>학습, 평가, 시각화를 분리해 작은 실험을 반복 가능하게 만든다.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E97948-9821-4B46-BC24-00CD20562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223837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6E4D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888B9E-FEC9-422A-B0EA-7059EC46A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241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9E64">
              <a:alpha val="13333"/>
            </a:srgbClr>
          </a:solidFill>
          <a:ln xmlns:a="http://schemas.openxmlformats.org/drawingml/2006/main" w="11430">
            <a:solidFill>
              <a:srgbClr val="2F9E6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709E4F-DEDD-420C-9CDA-0A1F484FE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562225"/>
            <a:ext cx="1285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9E6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F9E64"/>
                </a:solidFill>
                <a:latin typeface="Aptos"/>
                <a:ea typeface="Aptos"/>
                <a:cs typeface="Aptos"/>
              </a:rPr>
              <a:t>Toy Env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620F34-4DAE-48B5-A79D-C806E291B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19425"/>
            <a:ext cx="1752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4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5747A"/>
                </a:solidFill>
                <a:latin typeface="Aptos"/>
                <a:ea typeface="Aptos"/>
                <a:cs typeface="Aptos"/>
              </a:rPr>
              <a:t>reset / step / reward / info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6451C0-599F-4DE8-9C61-DF9C468A4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333625"/>
            <a:ext cx="223837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6E4D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303410-33CF-45C7-830B-F35722E6B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5241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994A">
              <a:alpha val="13333"/>
            </a:srgbClr>
          </a:solidFill>
          <a:ln xmlns:a="http://schemas.openxmlformats.org/drawingml/2006/main" w="11430">
            <a:solidFill>
              <a:srgbClr val="F299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894C43-8229-4D94-ACCB-97C6A25E2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562225"/>
            <a:ext cx="1285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99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2994A"/>
                </a:solidFill>
                <a:latin typeface="Aptos"/>
                <a:ea typeface="Aptos"/>
                <a:cs typeface="Aptos"/>
              </a:rPr>
              <a:t>Baselines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5ED564-04B6-4DA7-8B56-06AC1E666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019425"/>
            <a:ext cx="1752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4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5747A"/>
                </a:solidFill>
                <a:latin typeface="Aptos"/>
                <a:ea typeface="Aptos"/>
                <a:cs typeface="Aptos"/>
              </a:rPr>
              <a:t>Random · Low-stock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C86CB5-DDD1-4980-BB09-A213A361E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33625"/>
            <a:ext cx="223837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6E4D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6EB75F-711C-4824-A95B-8EB7845A1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241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>
              <a:alpha val="13333"/>
            </a:srgbClr>
          </a:solidFill>
          <a:ln xmlns:a="http://schemas.openxmlformats.org/drawingml/2006/main" w="11430">
            <a:solidFill>
              <a:srgbClr val="2F80E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61757C-B2FB-493B-9200-F196506B3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562225"/>
            <a:ext cx="1285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80E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F80ED"/>
                </a:solidFill>
                <a:latin typeface="Aptos"/>
                <a:ea typeface="Aptos"/>
                <a:cs typeface="Aptos"/>
              </a:rPr>
              <a:t>DQNAgent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25EF48-1B9E-4945-B40A-A3783E93B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19425"/>
            <a:ext cx="1752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4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5747A"/>
                </a:solidFill>
                <a:latin typeface="Aptos"/>
                <a:ea typeface="Aptos"/>
                <a:cs typeface="Aptos"/>
              </a:rPr>
              <a:t>Q-network · replay · target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A2506D-D30F-477A-A9F6-D26C3BD81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333625"/>
            <a:ext cx="223837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6E4D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9DD10D-A9D0-4EB8-B6AB-0B261D9B5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5241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3238">
              <a:alpha val="13333"/>
            </a:srgbClr>
          </a:solidFill>
          <a:ln xmlns:a="http://schemas.openxmlformats.org/drawingml/2006/main" w="11430">
            <a:solidFill>
              <a:srgbClr val="23323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06BF92-C54C-4D0E-9B70-EBDB1ED6E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562225"/>
            <a:ext cx="1285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3323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33238"/>
                </a:solidFill>
                <a:latin typeface="Aptos"/>
                <a:ea typeface="Aptos"/>
                <a:cs typeface="Aptos"/>
              </a:rPr>
              <a:t>Evaluate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4E193B-E4D2-4824-8129-7FE5B47A5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3019425"/>
            <a:ext cx="1752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4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5747A"/>
                </a:solidFill>
                <a:latin typeface="Aptos"/>
                <a:ea typeface="Aptos"/>
                <a:cs typeface="Aptos"/>
              </a:rPr>
              <a:t>동일 seed 조건에서 metric 집계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18C0AD-846E-4212-A98A-963F36DC4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867025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F8B9A0-42C9-401F-8EF2-FA592FF84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867025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209905-8835-4AF8-A772-51BF6A1E6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67025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9208BF-10BB-4578-801C-82B128701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95750"/>
            <a:ext cx="8953500" cy="1543050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DFF3E7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2A921D-EDE7-41D5-9573-4DA64C117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4386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9E6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F9E64"/>
                </a:solidFill>
                <a:latin typeface="Aptos"/>
                <a:ea typeface="Aptos"/>
                <a:cs typeface="Aptos"/>
              </a:rPr>
              <a:t>CLI 메뉴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6882E6-4CAF-4F4D-A1D5-1AC615710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819650"/>
            <a:ext cx="7524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1 Baseline 평가   2 DQN(Small) 학습   3 DQN 평가</a:t>
            </a:r>
          </a:p>
          <a:p xmlns:a="http://schemas.openxmlformats.org/drawingml/2006/main">
            <a:pPr algn="l">
              <a:defRPr sz="12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4 Baseline visualization   5 DQN visualization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3E9A360-43EF-4C37-AC3F-9A7B42EA3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314950"/>
            <a:ext cx="6572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4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5747A"/>
                </a:solidFill>
                <a:latin typeface="Aptos"/>
                <a:ea typeface="Aptos"/>
                <a:cs typeface="Aptos"/>
              </a:rPr>
              <a:t>4/5번은 visualization 창을 닫으면 프로그램도 함께 종료된다.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D03D64F-0EDB-4870-84D1-8CA151F1D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857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4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5747A"/>
                </a:solidFill>
                <a:latin typeface="Aptos"/>
                <a:ea typeface="Aptos"/>
                <a:cs typeface="Aptos"/>
              </a:rPr>
              <a:t>현재 단계: V1 Toy DQN smoke prototype · PyTorch DQN은 다음 확장</a:t>
            </a:r>
          </a:p>
        </p:txBody>
      </p:sp>
    </p:spTree>
    <p:extLst>
      <p:ext uri="{BB962C8B-B14F-4D97-AF65-F5344CB8AC3E}">
        <p14:creationId xmlns:p14="http://schemas.microsoft.com/office/powerpoint/2010/main" val="90884997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4E02086-9693-4215-AFE0-FA41B5FED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603AD4-F1D3-4EFB-B263-2F5F9C928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9E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20CDCA-E7CD-4FC8-A3F5-7F5E618E3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9E6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F9E64"/>
                </a:solidFill>
                <a:latin typeface="Aptos"/>
                <a:ea typeface="Aptos"/>
                <a:cs typeface="Aptos"/>
              </a:rPr>
              <a:t>Learning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719A10-9536-47AA-9F4B-4A2B57E23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4290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574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747A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0C412A-BC7D-4F87-A9EE-289643672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7810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rPr>
              <a:t>현재 DQN은 순수 Python</a:t>
            </a:r>
          </a:p>
          <a:p xmlns:a="http://schemas.openxmlformats.org/drawingml/2006/main">
            <a:pPr algn="l">
              <a:defRPr sz="285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rPr>
              <a:t>smoke prototype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51125F-38F9-45BF-B611-914010760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95450"/>
            <a:ext cx="7810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5747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5747A"/>
                </a:solidFill>
                <a:latin typeface="Aptos"/>
                <a:ea typeface="Aptos"/>
                <a:cs typeface="Aptos"/>
              </a:rPr>
              <a:t>PyTorch 기반 고성능 모델이 아니라, DQN 핵심 구조가 toy MDP와 연결되는지 검증하는 단계다.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690B4D-32BA-4B8D-B5E7-1030938E2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3333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6E4D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9AE72A-9726-428C-AE71-BCC4597F4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7655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80E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F80ED"/>
                </a:solidFill>
                <a:latin typeface="Aptos"/>
                <a:ea typeface="Aptos"/>
                <a:cs typeface="Aptos"/>
              </a:rPr>
              <a:t>DQN 구성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136A58-F0DF-43CA-814B-90743AD3D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33750"/>
            <a:ext cx="2381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• one-hidden-layer Q-network</a:t>
            </a:r>
          </a:p>
          <a:p xmlns:a="http://schemas.openxmlformats.org/drawingml/2006/main">
            <a:pPr algn="l">
              <a:defRPr sz="13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• replay buffer</a:t>
            </a:r>
          </a:p>
          <a:p xmlns:a="http://schemas.openxmlformats.org/drawingml/2006/main">
            <a:pPr algn="l">
              <a:defRPr sz="13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• target network</a:t>
            </a:r>
          </a:p>
          <a:p xmlns:a="http://schemas.openxmlformats.org/drawingml/2006/main">
            <a:pPr algn="l">
              <a:defRPr sz="13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• epsilon-greedy exploration</a:t>
            </a:r>
          </a:p>
          <a:p xmlns:a="http://schemas.openxmlformats.org/drawingml/2006/main">
            <a:pPr algn="l">
              <a:defRPr sz="13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• greedy evaluation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D8BD61-873B-43EA-AA43-0BD2ACBE5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571750"/>
            <a:ext cx="3333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0DE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8681E4-9F09-4F5C-B3BD-279EF9D84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8765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994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2994A"/>
                </a:solidFill>
                <a:latin typeface="Aptos"/>
                <a:ea typeface="Aptos"/>
                <a:cs typeface="Aptos"/>
              </a:rPr>
              <a:t>주의할 표현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870975-8A69-42AD-A32C-066E331E6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333750"/>
            <a:ext cx="2381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현재 단계는 성능 결론이 아니라</a:t>
            </a:r>
          </a:p>
          <a:p xmlns:a="http://schemas.openxmlformats.org/drawingml/2006/main">
            <a:pPr algn="l">
              <a:defRPr sz="13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학습/평가 파이프라인 검증이다.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성능 주장은 multi-seed 평가 후 제한적으로 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3B6321-D054-4694-BA40-C19983075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71750"/>
            <a:ext cx="3333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DFF3E7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921D12-DA59-4DCF-B7B3-84AF542A1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87655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9E6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F9E64"/>
                </a:solidFill>
                <a:latin typeface="Aptos"/>
                <a:ea typeface="Aptos"/>
                <a:cs typeface="Aptos"/>
              </a:rPr>
              <a:t>다음 단계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AB4D93-DD96-4B3E-B87C-D3CAD6CD2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333750"/>
            <a:ext cx="23812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PyTorch DQN 추가</a:t>
            </a:r>
          </a:p>
          <a:p xmlns:a="http://schemas.openxmlformats.org/drawingml/2006/main">
            <a:pPr algn="l">
              <a:defRPr sz="13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Double DQN / Dueling DQN 비교</a:t>
            </a:r>
          </a:p>
          <a:p xmlns:a="http://schemas.openxmlformats.org/drawingml/2006/main">
            <a:pPr algn="l">
              <a:defRPr sz="13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reward ablation</a:t>
            </a:r>
          </a:p>
          <a:p xmlns:a="http://schemas.openxmlformats.org/drawingml/2006/main">
            <a:pPr algn="l">
              <a:defRPr sz="13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실제 따릉이 데이터 확장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5FA27C-BC33-48F6-BFD3-A4ACDCC24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42925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F80ED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2F80ED"/>
                </a:solidFill>
                <a:latin typeface="Aptos"/>
                <a:ea typeface="Aptos"/>
                <a:cs typeface="Aptos"/>
              </a:rPr>
              <a:t>Q(s,a)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488CF8-BB6B-4820-85BE-2458CB9DC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60388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574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5747A"/>
                </a:solidFill>
                <a:latin typeface="Aptos"/>
                <a:ea typeface="Aptos"/>
                <a:cs typeface="Aptos"/>
              </a:rPr>
              <a:t>학습 대상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A5B85B-FB35-4F94-B187-C9F873E8D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42925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2994A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2994A"/>
                </a:solidFill>
                <a:latin typeface="Aptos"/>
                <a:ea typeface="Aptos"/>
                <a:cs typeface="Aptos"/>
              </a:rPr>
              <a:t>seed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149AFA-4EC3-4138-AFE3-AFDC89959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60388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574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5747A"/>
                </a:solidFill>
                <a:latin typeface="Aptos"/>
                <a:ea typeface="Aptos"/>
                <a:cs typeface="Aptos"/>
              </a:rPr>
              <a:t>평가 분리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61477E-EE95-45F6-B90D-0C65B7124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42925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F9E64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2F9E64"/>
                </a:solidFill>
                <a:latin typeface="Aptos"/>
                <a:ea typeface="Aptos"/>
                <a:cs typeface="Aptos"/>
              </a:rPr>
              <a:t>metric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3A358C-7E03-4E32-8E5D-25C872F79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60388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574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5747A"/>
                </a:solidFill>
                <a:latin typeface="Aptos"/>
                <a:ea typeface="Aptos"/>
                <a:cs typeface="Aptos"/>
              </a:rPr>
              <a:t>비교 기준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A7AD15-363E-4B00-AFE6-F4685E65B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857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4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5747A"/>
                </a:solidFill>
                <a:latin typeface="Aptos"/>
                <a:ea typeface="Aptos"/>
                <a:cs typeface="Aptos"/>
              </a:rPr>
              <a:t>현재 단계: V1 Toy DQN smoke prototype · PyTorch DQN은 다음 확장</a:t>
            </a:r>
          </a:p>
        </p:txBody>
      </p:sp>
    </p:spTree>
    <p:extLst>
      <p:ext uri="{BB962C8B-B14F-4D97-AF65-F5344CB8AC3E}">
        <p14:creationId xmlns:p14="http://schemas.microsoft.com/office/powerpoint/2010/main" val="121966163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D80AAB5-4448-48A3-AE8F-7F1B63C96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0D1978-328F-44F4-8112-ABC09C968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9E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7181E1-8C84-4B9C-A671-9D466179F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9E6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F9E64"/>
                </a:solidFill>
                <a:latin typeface="Aptos"/>
                <a:ea typeface="Aptos"/>
                <a:cs typeface="Aptos"/>
              </a:rPr>
              <a:t>Review Agenda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35B649-4CF2-4A51-8E7A-4CCB383D1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4290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574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747A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FDEE60-C3D8-4FB7-9C44-1CE8E2FD6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7810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rPr>
              <a:t>오늘 조원 리뷰에서</a:t>
            </a:r>
          </a:p>
          <a:p xmlns:a="http://schemas.openxmlformats.org/drawingml/2006/main">
            <a:pPr algn="l">
              <a:defRPr sz="285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rPr>
              <a:t>결정할 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B6D6A9-2902-42DA-8039-3F2798D1E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7810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5747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5747A"/>
                </a:solidFill>
                <a:latin typeface="Aptos"/>
                <a:ea typeface="Aptos"/>
                <a:cs typeface="Aptos"/>
              </a:rPr>
              <a:t>현재 버전은 작고 실행 가능하다. 다음 단계로 넘어가기 전 설계 질문을 먼저 정리한다.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777C47-69ED-40F2-AD17-A14599332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09850"/>
            <a:ext cx="10477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6E4D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45AE0F-FBB7-434B-AC6D-4002D184A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813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5252">
              <a:alpha val="13333"/>
            </a:srgbClr>
          </a:solidFill>
          <a:ln xmlns:a="http://schemas.openxmlformats.org/drawingml/2006/main" w="13335">
            <a:solidFill>
              <a:srgbClr val="E0525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B996FA-F41E-47A7-B185-4AEBCC5A1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81940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0525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05252"/>
                </a:solidFill>
                <a:latin typeface="Aptos"/>
                <a:ea typeface="Aptos"/>
                <a:cs typeface="Aptos"/>
              </a:rPr>
              <a:t>Reward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CD1EA8-877B-4E35-891A-8CE2E9E0D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800350"/>
            <a:ext cx="7429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헛걸음 -10, 이동비용 -1의 비율이 직관적인가?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A21363-F3C0-4883-B9F8-A420AB38F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09950"/>
            <a:ext cx="10477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6E4D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EC1E4B-B345-4D55-97FF-73301C6F0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814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>
              <a:alpha val="13333"/>
            </a:srgbClr>
          </a:solidFill>
          <a:ln xmlns:a="http://schemas.openxmlformats.org/drawingml/2006/main" w="13335">
            <a:solidFill>
              <a:srgbClr val="2F80E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EBC462-8D48-4796-8131-229577FCD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61950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80E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F80ED"/>
                </a:solidFill>
                <a:latin typeface="Aptos"/>
                <a:ea typeface="Aptos"/>
                <a:cs typeface="Aptos"/>
              </a:rPr>
              <a:t>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0B64E1-5863-4889-8B43-25A657E2A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600450"/>
            <a:ext cx="7429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방문 대여소 선택만으로 V0 문제를 충분히 설명할 수 있는가?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3437A6-BA64-4762-A28B-C83D9A1E0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10050"/>
            <a:ext cx="10477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6E4D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C9620E-3424-4C31-93FE-385B582AC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815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9E64">
              <a:alpha val="13333"/>
            </a:srgbClr>
          </a:solidFill>
          <a:ln xmlns:a="http://schemas.openxmlformats.org/drawingml/2006/main" w="13335">
            <a:solidFill>
              <a:srgbClr val="2F9E6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C92D87-B1C5-43F3-BF9C-A6142A34F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41960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9E6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F9E64"/>
                </a:solidFill>
                <a:latin typeface="Aptos"/>
                <a:ea typeface="Aptos"/>
                <a:cs typeface="Aptos"/>
              </a:rPr>
              <a:t>Metric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D2F8D5-9409-48F7-B27D-48FDD94BA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400550"/>
            <a:ext cx="7429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DQN 비교는 Avg Unmet Demand와 Service Rate 중 무엇을 중심으로 볼까?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D91147-7E48-4D18-9111-6C4089D3F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10150"/>
            <a:ext cx="10477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6E4D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4780F3-1D36-4827-9805-A4BAC0ADB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81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994A">
              <a:alpha val="13333"/>
            </a:srgbClr>
          </a:solidFill>
          <a:ln xmlns:a="http://schemas.openxmlformats.org/drawingml/2006/main" w="13335">
            <a:solidFill>
              <a:srgbClr val="F2994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F119EF-3B1C-4E54-8E72-A56D0A192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21970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99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2994A"/>
                </a:solidFill>
                <a:latin typeface="Aptos"/>
                <a:ea typeface="Aptos"/>
                <a:cs typeface="Aptos"/>
              </a:rPr>
              <a:t>Next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2BDEE5-7A33-40AE-9107-37D349D67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200650"/>
            <a:ext cx="7429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PyTorch DQN을 새 agent로 추가할지, 기존 toy DQN을 교체할지?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892C71-7279-4B8C-BF92-BC3FD4EDE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24550"/>
            <a:ext cx="10477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FF3E7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E27B98-AAFA-45EE-B39B-608527332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6067425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9E6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F9E64"/>
                </a:solidFill>
                <a:latin typeface="Aptos"/>
                <a:ea typeface="Aptos"/>
                <a:cs typeface="Aptos"/>
              </a:rPr>
              <a:t>회의 산출물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A190F7-65F3-497F-BA2D-6EBF16574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6067425"/>
            <a:ext cx="6572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MDP 설계 확정 · PyTorch DQN 전환 범위 · README 성능 주장 수준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AF563F-D964-40AD-BC26-158C093F3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857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4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5747A"/>
                </a:solidFill>
                <a:latin typeface="Aptos"/>
                <a:ea typeface="Aptos"/>
                <a:cs typeface="Aptos"/>
              </a:rPr>
              <a:t>참고 원고: docs/02_team_review_brief.md</a:t>
            </a:r>
          </a:p>
        </p:txBody>
      </p:sp>
    </p:spTree>
    <p:extLst>
      <p:ext uri="{BB962C8B-B14F-4D97-AF65-F5344CB8AC3E}">
        <p14:creationId xmlns:p14="http://schemas.microsoft.com/office/powerpoint/2010/main" val="296376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2026-05-14T11:02:44.7800000Z</dcterms:created>
  <dcterms:modified xsi:type="dcterms:W3CDTF">2026-05-14T11:02:44.7800000Z</dcterms:modified>
</coreProperties>
</file>